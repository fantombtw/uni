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40363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072873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15970767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6661379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5958108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048432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8082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8922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55734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4602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3738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0718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7A6EE7-2F37-5C87-4E53-4B75CEC006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389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26486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5188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0DE19F-7DED-FA0B-8159-8499CB59E7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5597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9097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87549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549C87-177D-5B1A-6D91-5B54F48630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586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8870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3984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CAED24-65DA-AF03-7536-562E0C4BA0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4B66A6-B183-2FEA-626B-B63212B8BC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092011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544391928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65511002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955264471" name="Subtitle 2"/>
          <p:cNvSpPr>
            <a:spLocks noGrp="1"/>
          </p:cNvSpPr>
          <p:nvPr>
            <p:ph type="subTitle" idx="1"/>
          </p:nvPr>
        </p:nvSpPr>
        <p:spPr bwMode="auto">
          <a:xfrm>
            <a:off x="1871530" y="3212975"/>
            <a:ext cx="8534399" cy="1752599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686293382" name="Title 1"/>
          <p:cNvSpPr>
            <a:spLocks noGrp="1"/>
          </p:cNvSpPr>
          <p:nvPr>
            <p:ph type="title"/>
          </p:nvPr>
        </p:nvSpPr>
        <p:spPr bwMode="auto">
          <a:xfrm>
            <a:off x="920054" y="1204857"/>
            <a:ext cx="10339617" cy="1910715"/>
          </a:xfrm>
        </p:spPr>
        <p:txBody>
          <a:bodyPr anchor="b"/>
          <a:lstStyle>
            <a:lvl1pPr algn="ctr">
              <a:defRPr sz="5400" b="0" cap="none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891593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39098189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822172198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711372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1869200331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51050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32331" y="1484784"/>
            <a:ext cx="10312995" cy="410445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55004483" name="Title 10"/>
          <p:cNvSpPr>
            <a:spLocks noGrp="1"/>
          </p:cNvSpPr>
          <p:nvPr>
            <p:ph type="title"/>
          </p:nvPr>
        </p:nvSpPr>
        <p:spPr bwMode="auto">
          <a:xfrm>
            <a:off x="925158" y="116631"/>
            <a:ext cx="10341684" cy="1054250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71122093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510603600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75815414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742068" name="Title 1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92657538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98129571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964099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190722630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719402" y="1556793"/>
            <a:ext cx="5071871" cy="4563770"/>
          </a:xfrm>
        </p:spPr>
        <p:txBody>
          <a:bodyPr/>
          <a:lstStyle>
            <a:lvl1pPr marL="174623" indent="-174623">
              <a:defRPr sz="2400"/>
            </a:lvl1pPr>
            <a:lvl2pPr marL="533399" indent="-174623">
              <a:defRPr sz="2000"/>
            </a:lvl2pPr>
            <a:lvl3pPr marL="892174" indent="-173037">
              <a:tabLst>
                <a:tab pos="804862" algn="l"/>
              </a:tabLst>
              <a:defRPr sz="1800"/>
            </a:lvl3pPr>
            <a:lvl4pPr marL="1252537" indent="-174623">
              <a:defRPr sz="1600"/>
            </a:lvl4pPr>
            <a:lvl5pPr marL="1523999" indent="-174623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94951296" name="Content Placeholder 3"/>
          <p:cNvSpPr>
            <a:spLocks noGrp="1"/>
          </p:cNvSpPr>
          <p:nvPr>
            <p:ph sz="half" idx="13"/>
          </p:nvPr>
        </p:nvSpPr>
        <p:spPr bwMode="auto">
          <a:xfrm>
            <a:off x="6288021" y="1556793"/>
            <a:ext cx="5071871" cy="4563770"/>
          </a:xfrm>
        </p:spPr>
        <p:txBody>
          <a:bodyPr/>
          <a:lstStyle>
            <a:lvl1pPr marL="174623" indent="-174623">
              <a:defRPr sz="2400"/>
            </a:lvl1pPr>
            <a:lvl2pPr marL="533399" indent="-174623">
              <a:defRPr sz="2000"/>
            </a:lvl2pPr>
            <a:lvl3pPr marL="892174" indent="-173037">
              <a:tabLst>
                <a:tab pos="804862" algn="l"/>
              </a:tabLst>
              <a:defRPr sz="1800"/>
            </a:lvl3pPr>
            <a:lvl4pPr marL="1252537" indent="-174623">
              <a:defRPr sz="1600"/>
            </a:lvl4pPr>
            <a:lvl5pPr marL="1523999" indent="-174623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4125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6833334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19402" y="1556791"/>
            <a:ext cx="5080583" cy="658367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54047106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719402" y="2492895"/>
            <a:ext cx="5071871" cy="3627666"/>
          </a:xfrm>
        </p:spPr>
        <p:txBody>
          <a:bodyPr/>
          <a:lstStyle>
            <a:lvl1pPr marL="174623" indent="-174623">
              <a:defRPr sz="2400"/>
            </a:lvl1pPr>
            <a:lvl2pPr marL="533399" indent="-174623">
              <a:defRPr sz="2000"/>
            </a:lvl2pPr>
            <a:lvl3pPr marL="892174" indent="-173037">
              <a:tabLst>
                <a:tab pos="804862" algn="l"/>
              </a:tabLst>
              <a:defRPr sz="1800"/>
            </a:lvl3pPr>
            <a:lvl4pPr marL="1252537" indent="-174623">
              <a:defRPr sz="1600"/>
            </a:lvl4pPr>
            <a:lvl5pPr marL="1523999" indent="-174623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8907408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384031" y="1556791"/>
            <a:ext cx="5074114" cy="658367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963378949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01761013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6082669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622686258" name="Content Placeholder 3"/>
          <p:cNvSpPr>
            <a:spLocks noGrp="1"/>
          </p:cNvSpPr>
          <p:nvPr>
            <p:ph sz="half" idx="13"/>
          </p:nvPr>
        </p:nvSpPr>
        <p:spPr bwMode="auto">
          <a:xfrm>
            <a:off x="6288021" y="2492897"/>
            <a:ext cx="5071871" cy="3780066"/>
          </a:xfrm>
        </p:spPr>
        <p:txBody>
          <a:bodyPr/>
          <a:lstStyle>
            <a:lvl1pPr marL="174623" indent="-174623">
              <a:defRPr sz="2400"/>
            </a:lvl1pPr>
            <a:lvl2pPr marL="533399" indent="-174623">
              <a:defRPr sz="2000"/>
            </a:lvl2pPr>
            <a:lvl3pPr marL="892174" indent="-173037">
              <a:tabLst>
                <a:tab pos="804862" algn="l"/>
              </a:tabLst>
              <a:defRPr sz="1800"/>
            </a:lvl3pPr>
            <a:lvl4pPr marL="1252537" indent="-174623">
              <a:defRPr sz="1600"/>
            </a:lvl4pPr>
            <a:lvl5pPr marL="1523999" indent="-174623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9586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19936373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7634655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9014272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624298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62517797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8574024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1215773" name="Title 1"/>
          <p:cNvSpPr>
            <a:spLocks noGrp="1"/>
          </p:cNvSpPr>
          <p:nvPr>
            <p:ph type="title"/>
          </p:nvPr>
        </p:nvSpPr>
        <p:spPr bwMode="auto">
          <a:xfrm>
            <a:off x="6712773" y="596974"/>
            <a:ext cx="4563310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43273472" name="Content Placeholder 2"/>
          <p:cNvSpPr>
            <a:spLocks noGrp="1"/>
          </p:cNvSpPr>
          <p:nvPr>
            <p:ph idx="1"/>
          </p:nvPr>
        </p:nvSpPr>
        <p:spPr bwMode="auto">
          <a:xfrm>
            <a:off x="922668" y="559398"/>
            <a:ext cx="5488889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662779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712773" y="2618910"/>
            <a:ext cx="4548966" cy="350219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542087754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203978845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167929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706184" name="Title 1"/>
          <p:cNvSpPr>
            <a:spLocks noGrp="1"/>
          </p:cNvSpPr>
          <p:nvPr>
            <p:ph type="title"/>
          </p:nvPr>
        </p:nvSpPr>
        <p:spPr bwMode="auto">
          <a:xfrm>
            <a:off x="903642" y="4668818"/>
            <a:ext cx="10356027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39402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917985" y="5324305"/>
            <a:ext cx="1034168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19449871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543606" y="620687"/>
            <a:ext cx="6929454" cy="3897818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1810973329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17633703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4074992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11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921664" name="Title Placeholder 1"/>
          <p:cNvSpPr>
            <a:spLocks noGrp="1"/>
          </p:cNvSpPr>
          <p:nvPr>
            <p:ph type="title"/>
          </p:nvPr>
        </p:nvSpPr>
        <p:spPr bwMode="auto">
          <a:xfrm>
            <a:off x="925158" y="116631"/>
            <a:ext cx="10341684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1421364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32330" y="1772815"/>
            <a:ext cx="10327339" cy="4320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11198413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11573443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3709405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>
        <a:defRPr>
          <a:solidFill>
            <a:schemeClr val="tx2"/>
          </a:solidFill>
        </a:defRPr>
      </a:lvl2pPr>
      <a:lvl3pPr>
        <a:defRPr>
          <a:solidFill>
            <a:schemeClr val="tx2"/>
          </a:solidFill>
        </a:defRPr>
      </a:lvl3pPr>
      <a:lvl4pPr>
        <a:defRPr>
          <a:solidFill>
            <a:schemeClr val="tx2"/>
          </a:solidFill>
        </a:defRPr>
      </a:lvl4pPr>
      <a:lvl5pPr>
        <a:defRPr>
          <a:solidFill>
            <a:schemeClr val="tx2"/>
          </a:solidFill>
        </a:defRPr>
      </a:lvl5pPr>
      <a:lvl6pPr>
        <a:defRPr>
          <a:solidFill>
            <a:schemeClr val="tx2"/>
          </a:solidFill>
        </a:defRPr>
      </a:lvl6pPr>
      <a:lvl7pPr>
        <a:defRPr>
          <a:solidFill>
            <a:schemeClr val="tx2"/>
          </a:solidFill>
        </a:defRPr>
      </a:lvl7pPr>
      <a:lvl8pPr>
        <a:defRPr>
          <a:solidFill>
            <a:schemeClr val="tx2"/>
          </a:solidFill>
        </a:defRPr>
      </a:lvl8pPr>
      <a:lvl9pPr>
        <a:defRPr>
          <a:solidFill>
            <a:schemeClr val="tx2"/>
          </a:solidFill>
        </a:defRPr>
      </a:lvl9pPr>
    </p:titleStyle>
    <p:bodyStyle>
      <a:lvl1pPr marL="342900" indent="-342900" algn="l" defTabSz="914400" rtl="0">
        <a:spcBef>
          <a:spcPts val="0"/>
        </a:spcBef>
        <a:buClrTx/>
        <a:buFont typeface="Arial"/>
        <a:buChar char="•"/>
        <a:defRPr sz="24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1pPr>
      <a:lvl2pPr marL="754379" indent="-342900" algn="l" defTabSz="914400" rtl="0">
        <a:spcBef>
          <a:spcPts val="0"/>
        </a:spcBef>
        <a:buClrTx/>
        <a:buFont typeface="Times New Roman"/>
        <a:buChar char="–"/>
        <a:defRPr sz="2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2pPr>
      <a:lvl3pPr marL="1120140" indent="-342900" algn="l" defTabSz="914400" rtl="0">
        <a:spcBef>
          <a:spcPts val="0"/>
        </a:spcBef>
        <a:buClrTx/>
        <a:buFont typeface="Arial"/>
        <a:buChar char="•"/>
        <a:defRPr sz="20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3pPr>
      <a:lvl4pPr marL="1474470" indent="-285750" algn="l" defTabSz="914400" rtl="0">
        <a:spcBef>
          <a:spcPts val="0"/>
        </a:spcBef>
        <a:buClrTx/>
        <a:buFont typeface="Times New Roman"/>
        <a:buChar char="–"/>
        <a:defRPr sz="18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4pPr>
      <a:lvl5pPr marL="1794509" indent="-285750" algn="l" defTabSz="914400" rtl="0">
        <a:spcBef>
          <a:spcPts val="0"/>
        </a:spcBef>
        <a:buClrTx/>
        <a:buFont typeface="Times New Roman"/>
        <a:buChar char="»"/>
        <a:defRPr sz="16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>
        <a:spcBef>
          <a:spcPts val="398"/>
        </a:spcBef>
        <a:buClr>
          <a:schemeClr val="accent1"/>
        </a:buClr>
        <a:buFont typeface="Wingdings"/>
        <a:buChar char=""/>
        <a:defRPr sz="14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>
        <a:spcBef>
          <a:spcPts val="398"/>
        </a:spcBef>
        <a:buClr>
          <a:schemeClr val="accent1"/>
        </a:buClr>
        <a:buFont typeface="Wingdings"/>
        <a:buChar char=""/>
        <a:defRPr sz="14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>
        <a:spcBef>
          <a:spcPts val="398"/>
        </a:spcBef>
        <a:buClr>
          <a:schemeClr val="accent1"/>
        </a:buClr>
        <a:buFont typeface="Wingdings"/>
        <a:buChar char=""/>
        <a:defRPr sz="14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>
        <a:spcBef>
          <a:spcPts val="398"/>
        </a:spcBef>
        <a:buClr>
          <a:schemeClr val="accent1"/>
        </a:buClr>
        <a:buFont typeface="Wingdings"/>
        <a:buChar char=""/>
        <a:defRPr sz="14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901221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871530" y="1819189"/>
            <a:ext cx="8534399" cy="54060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 algn="ctr">
              <a:buNone/>
              <a:defRPr sz="32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/>
              <a:t>Доклад на тему</a:t>
            </a:r>
            <a:endParaRPr/>
          </a:p>
        </p:txBody>
      </p:sp>
      <p:sp>
        <p:nvSpPr>
          <p:cNvPr id="132437750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920054" y="2359797"/>
            <a:ext cx="10339617" cy="169047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Autofit/>
          </a:bodyPr>
          <a:lstStyle>
            <a:lvl1pPr algn="ctr">
              <a:defRPr sz="5400" b="0" cap="none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Соотношение понятий</a:t>
            </a:r>
            <a:br>
              <a:rPr lang="ru-RU"/>
            </a:br>
            <a:r>
              <a:rPr lang="ru-RU"/>
              <a:t>Страна – Политика - Государство</a:t>
            </a:r>
            <a:endParaRPr/>
          </a:p>
        </p:txBody>
      </p:sp>
      <p:sp>
        <p:nvSpPr>
          <p:cNvPr id="1577854259" name=""/>
          <p:cNvSpPr txBox="1"/>
          <p:nvPr/>
        </p:nvSpPr>
        <p:spPr bwMode="auto">
          <a:xfrm rot="0" flipH="0" flipV="0">
            <a:off x="5632663" y="5663513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729664299" name=""/>
          <p:cNvSpPr txBox="1"/>
          <p:nvPr/>
        </p:nvSpPr>
        <p:spPr bwMode="auto">
          <a:xfrm rot="0" flipH="0" flipV="0">
            <a:off x="10183829" y="4462161"/>
            <a:ext cx="2011935" cy="9147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lang="ru-RU"/>
              <a:t>Выполнил </a:t>
            </a:r>
            <a:r>
              <a:rPr lang="ru-RU"/>
              <a:t>студент </a:t>
            </a:r>
            <a:endParaRPr lang="ru-RU"/>
          </a:p>
          <a:p>
            <a:pPr algn="r">
              <a:defRPr/>
            </a:pPr>
            <a:r>
              <a:rPr lang="ru-RU"/>
              <a:t>группы ИВБ-515</a:t>
            </a:r>
            <a:endParaRPr lang="ru-RU"/>
          </a:p>
          <a:p>
            <a:pPr algn="r">
              <a:defRPr/>
            </a:pPr>
            <a:r>
              <a:rPr lang="ru-RU"/>
              <a:t>Нартов С.А.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007659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 algn="just">
              <a:buClrTx/>
              <a:buFont typeface="Arial"/>
              <a:buNone/>
              <a:defRPr/>
            </a:pPr>
            <a:r>
              <a:rPr lang="ru-RU"/>
              <a:t>	В обыденной речи мы часто можем сказать «политика страны», «Страны ООН»</a:t>
            </a:r>
            <a:r>
              <a:rPr lang="ru-RU"/>
              <a:t>, и у нас не возникает задней мысли, что мы сказали что-то не так. А ведь «страна» и «государство» это разные понятия, предлагаю немного разобраться в этом.</a:t>
            </a:r>
            <a:endParaRPr lang="ru-RU"/>
          </a:p>
          <a:p>
            <a:pPr marL="0" indent="0" algn="just">
              <a:buClrTx/>
              <a:buFont typeface="Arial"/>
              <a:buNone/>
              <a:defRPr/>
            </a:pPr>
            <a:endParaRPr/>
          </a:p>
        </p:txBody>
      </p:sp>
      <p:sp>
        <p:nvSpPr>
          <p:cNvPr id="2125333401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Понятия.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93762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 algn="just">
              <a:buClrTx/>
              <a:buFont typeface="Arial"/>
              <a:buNone/>
              <a:defRPr/>
            </a:pPr>
            <a:r>
              <a:rPr lang="ru-RU"/>
              <a:t>	Страна — самое широкое понятие, оно означает</a:t>
            </a:r>
            <a:endParaRPr lang="ru-RU"/>
          </a:p>
          <a:p>
            <a:pPr marL="0" indent="0" algn="just">
              <a:buClrTx/>
              <a:buFont typeface="Arial"/>
              <a:buNone/>
              <a:defRPr/>
            </a:pPr>
            <a:endParaRPr lang="ru-RU"/>
          </a:p>
          <a:p>
            <a:pPr algn="just">
              <a:defRPr/>
            </a:pPr>
            <a:r>
              <a:rPr lang="ru-RU"/>
              <a:t>Географическое место (а если точнее, территория).</a:t>
            </a:r>
            <a:endParaRPr lang="ru-RU"/>
          </a:p>
          <a:p>
            <a:pPr algn="just">
              <a:defRPr/>
            </a:pPr>
            <a:r>
              <a:rPr lang="ru-RU"/>
              <a:t>Социум — народ, менталитет, язык, на котором говорят местные, их убеждения и т.д..</a:t>
            </a:r>
            <a:endParaRPr lang="ru-RU"/>
          </a:p>
          <a:p>
            <a:pPr algn="just">
              <a:defRPr/>
            </a:pPr>
            <a:r>
              <a:rPr lang="ru-RU"/>
              <a:t>История — история привязана к месту, к стране</a:t>
            </a:r>
            <a:r>
              <a:rPr lang="ru-RU"/>
              <a:t>.</a:t>
            </a:r>
            <a:endParaRPr lang="ru-RU"/>
          </a:p>
          <a:p>
            <a:pPr marL="0" indent="0" algn="just">
              <a:buClrTx/>
              <a:buFont typeface="Arial"/>
              <a:buNone/>
              <a:defRPr/>
            </a:pPr>
            <a:endParaRPr lang="ru-RU"/>
          </a:p>
          <a:p>
            <a:pPr marL="0" indent="0" algn="just">
              <a:buClrTx/>
              <a:buFont typeface="Arial"/>
              <a:buNone/>
              <a:defRPr/>
            </a:pPr>
            <a:r>
              <a:rPr lang="ru-RU"/>
              <a:t>	Метафорически, это можно назвать домом, местом, где происходят все события, где живут люди, какие люди в нём живут.</a:t>
            </a:r>
            <a:endParaRPr lang="ru-RU"/>
          </a:p>
        </p:txBody>
      </p:sp>
      <p:sp>
        <p:nvSpPr>
          <p:cNvPr id="372848936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Страна.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973126" name="Content Placeholder 2"/>
          <p:cNvSpPr>
            <a:spLocks noGrp="1"/>
          </p:cNvSpPr>
          <p:nvPr>
            <p:ph idx="1"/>
          </p:nvPr>
        </p:nvSpPr>
        <p:spPr bwMode="auto">
          <a:xfrm>
            <a:off x="925158" y="1772815"/>
            <a:ext cx="10327339" cy="4320479"/>
          </a:xfrm>
        </p:spPr>
        <p:txBody>
          <a:bodyPr/>
          <a:lstStyle/>
          <a:p>
            <a:pPr marL="0" indent="0" algn="just">
              <a:buClrTx/>
              <a:buFont typeface="Arial"/>
              <a:buNone/>
              <a:defRPr/>
            </a:pPr>
            <a:r>
              <a:rPr/>
              <a:t>	</a:t>
            </a:r>
            <a:r>
              <a:rPr lang="ru-RU"/>
              <a:t>Государство — это правящая власть, определяющая все институты, заботящаяся о народах и определяющая рамки дозволенного. Это не территория сама по себе, а аппарат управления этой территорией.</a:t>
            </a:r>
            <a:endParaRPr lang="ru-RU"/>
          </a:p>
          <a:p>
            <a:pPr marL="0" indent="0" algn="just">
              <a:buClrTx/>
              <a:buFont typeface="Arial"/>
              <a:buNone/>
              <a:defRPr/>
            </a:pPr>
            <a:r>
              <a:rPr lang="ru-RU"/>
              <a:t>Ключевые признаки</a:t>
            </a:r>
            <a:r>
              <a:rPr lang="en-US"/>
              <a:t>:</a:t>
            </a:r>
            <a:endParaRPr lang="en-US"/>
          </a:p>
          <a:p>
            <a:pPr algn="just">
              <a:defRPr/>
            </a:pPr>
            <a:r>
              <a:rPr lang="ru-RU"/>
              <a:t>Публичная власть и её инструменты (политики, армия, лидер, суд)</a:t>
            </a:r>
            <a:endParaRPr lang="ru-RU"/>
          </a:p>
          <a:p>
            <a:pPr algn="just">
              <a:defRPr/>
            </a:pPr>
            <a:r>
              <a:rPr lang="ru-RU"/>
              <a:t>Суверенитет — верховные политики не зависят от внешних сил.</a:t>
            </a:r>
            <a:endParaRPr lang="ru-RU"/>
          </a:p>
          <a:p>
            <a:pPr algn="just">
              <a:defRPr/>
            </a:pPr>
            <a:r>
              <a:rPr lang="ru-RU"/>
              <a:t>Налоговая система — система распределения денег, для комфорта жизни всех граждан</a:t>
            </a:r>
            <a:endParaRPr lang="ru-RU"/>
          </a:p>
          <a:p>
            <a:pPr marL="0" indent="0" algn="just">
              <a:buClrTx/>
              <a:buFont typeface="Arial"/>
              <a:buNone/>
              <a:defRPr/>
            </a:pPr>
            <a:r>
              <a:rPr lang="ru-RU"/>
              <a:t>	В нашей метафоре — </a:t>
            </a:r>
            <a:r>
              <a:rPr lang="ru-RU"/>
              <a:t>это управление дома, оно сдаёт квартиры, собирает деньги, но заботиться о том, чтоб в доме всё работало.</a:t>
            </a:r>
            <a:endParaRPr/>
          </a:p>
        </p:txBody>
      </p:sp>
      <p:sp>
        <p:nvSpPr>
          <p:cNvPr id="902017128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Государство.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946897" name="Content Placeholder 2"/>
          <p:cNvSpPr>
            <a:spLocks noGrp="1"/>
          </p:cNvSpPr>
          <p:nvPr>
            <p:ph idx="1"/>
          </p:nvPr>
        </p:nvSpPr>
        <p:spPr bwMode="auto">
          <a:xfrm>
            <a:off x="932329" y="1772814"/>
            <a:ext cx="10327338" cy="4320478"/>
          </a:xfrm>
        </p:spPr>
        <p:txBody>
          <a:bodyPr/>
          <a:lstStyle/>
          <a:p>
            <a:pPr marL="0" indent="0" algn="just">
              <a:buClrTx/>
              <a:buFont typeface="Arial"/>
              <a:buNone/>
              <a:defRPr/>
            </a:pPr>
            <a:r>
              <a:rPr lang="ru-RU"/>
              <a:t>	Политика — </a:t>
            </a:r>
            <a:r>
              <a:rPr lang="ru-RU"/>
              <a:t>процесс </a:t>
            </a:r>
            <a:r>
              <a:rPr lang="ru-RU"/>
              <a:t>управления, она включает в себя</a:t>
            </a:r>
            <a:endParaRPr lang="ru-RU"/>
          </a:p>
          <a:p>
            <a:pPr algn="just">
              <a:defRPr/>
            </a:pPr>
            <a:r>
              <a:rPr lang="ru-RU"/>
              <a:t>Борьбу за власть(выборы)</a:t>
            </a:r>
            <a:endParaRPr lang="ru-RU"/>
          </a:p>
          <a:p>
            <a:pPr algn="just">
              <a:defRPr/>
            </a:pPr>
            <a:r>
              <a:rPr lang="ru-RU"/>
              <a:t>Переговоры(дебаты, протесты)</a:t>
            </a:r>
            <a:endParaRPr lang="ru-RU"/>
          </a:p>
          <a:p>
            <a:pPr algn="just">
              <a:defRPr/>
            </a:pPr>
            <a:r>
              <a:rPr lang="ru-RU"/>
              <a:t>Конкретные решения и общие цели государства</a:t>
            </a:r>
            <a:endParaRPr lang="ru-RU"/>
          </a:p>
          <a:p>
            <a:pPr marL="0" indent="0" algn="just">
              <a:buClrTx/>
              <a:buFont typeface="Arial"/>
              <a:buNone/>
              <a:defRPr/>
            </a:pPr>
            <a:endParaRPr/>
          </a:p>
          <a:p>
            <a:pPr marL="0" indent="0" algn="just">
              <a:buClrTx/>
              <a:buFont typeface="Arial"/>
              <a:buNone/>
              <a:defRPr/>
            </a:pPr>
            <a:r>
              <a:rPr lang="ru-RU"/>
              <a:t>В нашей метафоре это то, как ведёт себя управляющий домом, как он собирает деньги и каким образом решается, постройка площадки во дворе, или же починка протекающей крыши.</a:t>
            </a:r>
            <a:endParaRPr/>
          </a:p>
        </p:txBody>
      </p:sp>
      <p:sp>
        <p:nvSpPr>
          <p:cNvPr id="955790038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Политика.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276626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 algn="just">
              <a:buClrTx/>
              <a:buFont typeface="Arial"/>
              <a:buNone/>
              <a:defRPr/>
            </a:pPr>
            <a:r>
              <a:rPr/>
              <a:t>	</a:t>
            </a:r>
            <a:r>
              <a:rPr lang="ru-RU" sz="2400" b="0" i="0" u="none" strike="noStrike" cap="none" spc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Соберём нашу метафору вместе</a:t>
            </a:r>
            <a:endParaRPr lang="ru-RU" sz="2400" b="0" i="0" u="none" strike="noStrike" cap="none" spc="0">
              <a:solidFill>
                <a:schemeClr val="tx2">
                  <a:lumMod val="75000"/>
                </a:schemeClr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ru-RU" sz="2400" b="0" i="0" u="none" strike="noStrike" cap="none" spc="0">
                <a:solidFill>
                  <a:schemeClr val="tx2">
                    <a:lumMod val="75000"/>
                  </a:schemeClr>
                </a:solidFill>
                <a:latin typeface="Times New Roman"/>
                <a:ea typeface="Arial"/>
                <a:cs typeface="Arial"/>
              </a:rPr>
              <a:t>Страна это территория, сосуд, то,</a:t>
            </a:r>
            <a:r>
              <a:rPr lang="en-US" sz="2400" b="0" i="0" u="none" strike="noStrike" cap="none" spc="0">
                <a:solidFill>
                  <a:schemeClr val="tx2">
                    <a:lumMod val="75000"/>
                  </a:schemeClr>
                </a:solidFill>
                <a:latin typeface="Times New Roman"/>
                <a:ea typeface="Arial"/>
                <a:cs typeface="Arial"/>
              </a:rPr>
              <a:t> </a:t>
            </a:r>
            <a:r>
              <a:rPr lang="ru-RU" sz="2400" b="0" i="0" u="none" strike="noStrike" cap="none" spc="0">
                <a:solidFill>
                  <a:schemeClr val="tx2">
                    <a:lumMod val="75000"/>
                  </a:schemeClr>
                </a:solidFill>
                <a:latin typeface="Times New Roman"/>
                <a:ea typeface="Arial"/>
                <a:cs typeface="Arial"/>
              </a:rPr>
              <a:t>где всё происходит</a:t>
            </a:r>
            <a:endParaRPr lang="ru-RU" sz="2400" b="0" i="0" u="none" strike="noStrike" cap="none" spc="0">
              <a:solidFill>
                <a:schemeClr val="tx2">
                  <a:lumMod val="75000"/>
                </a:schemeClr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ru-RU" sz="2400" b="0" i="0" u="none" strike="noStrike" cap="none" spc="0">
                <a:solidFill>
                  <a:schemeClr val="tx2">
                    <a:lumMod val="75000"/>
                  </a:schemeClr>
                </a:solidFill>
                <a:latin typeface="Times New Roman"/>
                <a:ea typeface="Arial"/>
                <a:cs typeface="Arial"/>
              </a:rPr>
              <a:t>Государство это владелец территории, наполнение сосуда, то, что принимает все решения</a:t>
            </a:r>
            <a:endParaRPr lang="ru-RU" sz="2400" b="0" i="0" u="none" strike="noStrike" cap="none" spc="0">
              <a:solidFill>
                <a:schemeClr val="tx2">
                  <a:lumMod val="75000"/>
                </a:schemeClr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ru-RU" sz="2400" b="0" i="0" u="none" strike="noStrike" cap="none" spc="0">
                <a:solidFill>
                  <a:schemeClr val="tx2">
                    <a:lumMod val="75000"/>
                  </a:schemeClr>
                </a:solidFill>
                <a:latin typeface="Times New Roman"/>
                <a:ea typeface="Arial"/>
                <a:cs typeface="Arial"/>
              </a:rPr>
              <a:t>Политика, это правила, изменяемая внутренняя форма сосуда, которая определяет, что и как должно делать государство.</a:t>
            </a:r>
            <a:endParaRPr lang="ru-RU" sz="2400" b="0" i="0" u="none" strike="noStrike" cap="none" spc="0">
              <a:solidFill>
                <a:schemeClr val="tx2">
                  <a:lumMod val="75000"/>
                </a:schemeClr>
              </a:solidFill>
              <a:latin typeface="Times New Roman"/>
              <a:cs typeface="Times New Roman"/>
            </a:endParaRPr>
          </a:p>
          <a:p>
            <a:pPr marL="0" indent="0" algn="just">
              <a:buClrTx/>
              <a:buFont typeface="Arial"/>
              <a:buNone/>
              <a:defRPr/>
            </a:pPr>
            <a:endParaRPr/>
          </a:p>
          <a:p>
            <a:pPr marL="0" indent="0" algn="just">
              <a:buClrTx/>
              <a:buFont typeface="Arial"/>
              <a:buNone/>
              <a:defRPr/>
            </a:pPr>
            <a:r>
              <a:rPr lang="ru-RU" sz="2400" b="0" i="0" u="none" strike="noStrike" cap="none" spc="0">
                <a:solidFill>
                  <a:schemeClr val="tx2">
                    <a:lumMod val="75000"/>
                  </a:schemeClr>
                </a:solidFill>
                <a:latin typeface="Times New Roman"/>
                <a:ea typeface="Arial"/>
                <a:cs typeface="Arial"/>
              </a:rPr>
              <a:t>	Вот каково получается соотношение понятий</a:t>
            </a:r>
            <a:br>
              <a:rPr lang="ru-RU" sz="2400" b="0" i="0" u="none" strike="noStrike" cap="none" spc="0">
                <a:solidFill>
                  <a:schemeClr val="tx2">
                    <a:lumMod val="75000"/>
                  </a:schemeClr>
                </a:solidFill>
                <a:latin typeface="Times New Roman"/>
                <a:ea typeface="Arial"/>
                <a:cs typeface="Arial"/>
              </a:rPr>
            </a:br>
            <a:r>
              <a:rPr lang="ru-RU" sz="2400" b="0" i="0" u="none" strike="noStrike" cap="none" spc="0">
                <a:solidFill>
                  <a:schemeClr val="tx2">
                    <a:lumMod val="75000"/>
                  </a:schemeClr>
                </a:solidFill>
                <a:latin typeface="Times New Roman"/>
                <a:ea typeface="Arial"/>
                <a:cs typeface="Arial"/>
              </a:rPr>
              <a:t>Страна – Политика - Государство.</a:t>
            </a:r>
            <a:endParaRPr/>
          </a:p>
        </p:txBody>
      </p:sp>
      <p:sp>
        <p:nvSpPr>
          <p:cNvPr id="1997931922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Вывод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Lines">
  <a:themeElements>
    <a:clrScheme name="Lines">
      <a:dk1>
        <a:sysClr val="windowText" lastClr="000000"/>
      </a:dk1>
      <a:lt1>
        <a:srgbClr val="D4735E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3300"/>
      </a:hlink>
      <a:folHlink>
        <a:srgbClr val="B2B2B2"/>
      </a:folHlink>
    </a:clrScheme>
    <a:fontScheme name="Times New Roman">
      <a:majorFont>
        <a:latin typeface="Times New Roman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algn="tl" flip="none" sx="60000" sy="60000" tx="0" ty="0"/>
        </a:blipFill>
        <a:blipFill rotWithShape="1">
          <a:blip r:embed="rId1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>
    <a:spDef>
      <a:spPr bwMode="auto"/>
      <a:bodyPr/>
      <a:lstStyle/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2026-05-05T18:43:43Z</dcterms:modified>
</cp:coreProperties>
</file>